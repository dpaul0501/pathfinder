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ourier New"/>
              </a:rPr>
              <a:t>HSI × WIT REGATTA 2026  ·  TRACK 2: YOUTH EMPOWERMENT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door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59669"/>
                </a:solidFill>
                <a:latin typeface="Calibri"/>
              </a:rPr>
              <a:t>Marisol can't
find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She's 17. Latina. South Seattle.
She wants to learn to code.
She Googles 'free tech programs Seattle.'
Gets 12 websites. 3 phone numbers.
No clear next step.
She gives up.
The programs exist.
She just can't find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01 /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ourier New"/>
              </a:rPr>
              <a:t>THE SCALE OF 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868680"/>
            <a:ext cx="3291840" cy="10972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978407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9669"/>
                </a:solidFill>
                <a:latin typeface="Calibri"/>
              </a:rPr>
              <a:t>~80,000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35607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WA youth ages 16–24 not in
education, employment, or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48840"/>
            <a:ext cx="3291840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258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30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157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Latino credential gap vs. statewide
(32% vs 62% post-secondary attainment)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429000"/>
            <a:ext cx="329184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3538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47 programs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995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Free WA tech programs scattered
across 12 agencies, 5 nonprofits, 3 websites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4709160"/>
            <a:ext cx="329184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48188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2626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2760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Unified navigation layers
existing before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5943600"/>
            <a:ext cx="6949440" cy="7132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5998464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4155"/>
                </a:solidFill>
                <a:latin typeface="Calibri"/>
              </a:rPr>
              <a:t>"Policy has been developed in silos, without sufficient input from
the communities it impacts most." — WA State Board of Ed, Dec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21440" y="182880"/>
            <a:ext cx="457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0" y="201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Courier New"/>
              </a:rPr>
              <a:t>LIVE DEMO  ·  PATHFINDER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One sentence in.
A career path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046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11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  <a:latin typeface="Calibri"/>
              </a:rPr>
              <a:t>💬  "I'm 17, Latina, interested in coding, South Seattle"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ourier New"/>
              </a:rPr>
              <a:t>↓  PathFinder generates in &lt; 8 seconds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954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  <a:latin typeface="Courier New"/>
              </a:rPr>
              <a:t>Week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649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Apply to Ada Build — Self-Paced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210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Free · Zero prerequisites · Online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9352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684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593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ourier New"/>
              </a:rPr>
              <a:t>Week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239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Complete Ada Build, apply to Ada Build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799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6-week evening cohort · 30 seats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292608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2744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183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706"/>
                </a:solidFill>
                <a:latin typeface="Courier New"/>
              </a:rPr>
              <a:t>Month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828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Apply to Ada Core — Cohort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38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Deadline Jul 1 · 60 seats · Full-time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77256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7725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2626"/>
                </a:solidFill>
                <a:latin typeface="Courier New"/>
              </a:rPr>
              <a:t>Month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418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Ada Core starts → paid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97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Amazon · Microsoft · Expedia · $95K–$120K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57200"/>
            <a:ext cx="3200400" cy="2560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548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  <a:latin typeface="Courier New"/>
              </a:rPr>
              <a:t>MATCHED MENTOR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8046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Sarah Reyes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143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Software Engineer II · Microsoft
Ada Core Cohort 14 · South Seattle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66420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C3AED"/>
                </a:solidFill>
                <a:latin typeface="Calibri"/>
              </a:rPr>
              <a:t>"I was exactly where you are.
Ada changed everything — and
it's genuinely free."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3200400"/>
            <a:ext cx="3200400" cy="1828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3291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  <a:latin typeface="Courier New"/>
              </a:rPr>
              <a:t>WHERE THIS LEADS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54787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Junior Software
Engineer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13308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$95,000 – $120,000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4622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Amazon · Microsoft · Expedia
12–18 months from today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02 / 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521440" y="182880"/>
            <a:ext cx="457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21440" y="201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urier New"/>
              </a:rPr>
              <a:t>TECHNICAL ARCHITECTURE  ·  GOVERNMENT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Not a chatbot wrapper.
A provenance-aware multi-agent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32588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🗣️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57400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Calibri"/>
              </a:rPr>
              <a:t>Intake
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350008"/>
            <a:ext cx="822960" cy="1828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59669"/>
                </a:solidFill>
                <a:latin typeface="Courier New"/>
              </a:rPr>
              <a:t>Claude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011680"/>
            <a:ext cx="30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1600200"/>
            <a:ext cx="132588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57400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Calibri"/>
              </a:rPr>
              <a:t>Resource
Matcher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350008"/>
            <a:ext cx="822960" cy="182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3500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C3AED"/>
                </a:solidFill>
                <a:latin typeface="Courier New"/>
              </a:rPr>
              <a:t>OpenClaw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011680"/>
            <a:ext cx="30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5616" y="1600200"/>
            <a:ext cx="132588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2057400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Calibri"/>
              </a:rPr>
              <a:t>Gap
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2350008"/>
            <a:ext cx="822960" cy="182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23500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C3AED"/>
                </a:solidFill>
                <a:latin typeface="Courier New"/>
              </a:rPr>
              <a:t>Strands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011680"/>
            <a:ext cx="30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9824" y="1600200"/>
            <a:ext cx="132588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2057400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Calibri"/>
              </a:rPr>
              <a:t>Roadmap
Gen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05856" y="2350008"/>
            <a:ext cx="822960" cy="182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6" y="23500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C3AED"/>
                </a:solidFill>
                <a:latin typeface="Courier New"/>
              </a:rPr>
              <a:t>Claude Sonnet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2011680"/>
            <a:ext cx="30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4032" y="1600200"/>
            <a:ext cx="132588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1673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Calibri"/>
              </a:rPr>
              <a:t>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2057400"/>
            <a:ext cx="1179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Calibri"/>
              </a:rPr>
              <a:t>Mentor
Handoff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0064" y="2350008"/>
            <a:ext cx="822960" cy="182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0064" y="23500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C3AED"/>
                </a:solidFill>
                <a:latin typeface="Courier New"/>
              </a:rPr>
              <a:t>HITL Interrupt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880360"/>
            <a:ext cx="777240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29443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3500"/>
                </a:solidFill>
                <a:latin typeface="Calibri"/>
              </a:rPr>
              <a:t>⚠  Safety control: LLM never invents program names, deadlines, or eligibility rules. All facts come from a curated WA program database. AI synthesizes — data governs.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57600"/>
            <a:ext cx="11521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49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urier New"/>
              </a:rPr>
              <a:t>GOVERNMENT INTELLIGENCE LAYER  ·  WHAT YOUTH NEED THAT THE SYSTEM DOESN'T PROVIDE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69080"/>
            <a:ext cx="2743200" cy="2468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📡 Live Reddit 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5537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Real posts from youth seeking help —
categorized by need type, urgency, WA location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64992" y="4069080"/>
            <a:ext cx="2743200" cy="2468880"/>
          </a:xfrm>
          <a:prstGeom prst="rect">
            <a:avLst/>
          </a:prstGeom>
          <a:solidFill>
            <a:srgbClr val="FFF7F7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2152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🚨 Gap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2152" y="45537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Posts where youth need is urgent
but no WA program exists to answer 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2784" y="4069080"/>
            <a:ext cx="2743200" cy="24688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🤝 HITL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45537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AI handled 80% of intake queries.
1 mentor now serves 10× the caseload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0576" y="4069080"/>
            <a:ext cx="2743200" cy="2468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17736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📊 Theme Analysis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17736" y="4553712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Aggregated pain themes for policy:
childcare, no-degree, immigration eligibility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03 / 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521440" y="182880"/>
            <a:ext cx="457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521440" y="201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Washington is rewriting
graduation requirements
right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59669"/>
                </a:solidFill>
                <a:latin typeface="Calibri"/>
              </a:rPr>
              <a:t>We built the navigation
layer they forgot to include.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Ada has graduated 1,200 engineers since 2013.
PathFinder finds the next 12,000 —
and shows policymakers exactly where to fund
the programs that don't exist yet.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56692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5870448"/>
            <a:ext cx="7315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613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FutureReady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9928" y="5870448"/>
            <a:ext cx="7315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8613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WSAC BIPOC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5496" y="5870448"/>
            <a:ext cx="7315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58613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Ada AI Curriculum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1064" y="5870448"/>
            <a:ext cx="7315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9936" y="58613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School's Out 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2" y="5870448"/>
            <a:ext cx="73152" cy="2560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586130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UW GEAR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ourier New"/>
              </a:rPr>
              <a:t>RUBRIC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59436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594360"/>
            <a:ext cx="16459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731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Human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10698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Marisol: confused → roadmap → mentor → $95K career in &lt; 10 min.
1 mentor now serves 10× more youth.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075688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075688"/>
            <a:ext cx="16459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212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Security / Responsibility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255117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No PII stored. No account required. HITL interrupt for undocumented,
foster youth, and emotional distress cases. AI knows its limits.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557016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557016"/>
            <a:ext cx="164592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6941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Effectiveness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0325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25 verified WA programs. &lt; 8 second roadmap on Groq free tier.
7 policy gap signals detected from live Reddit data. Tested today.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038344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5038344"/>
            <a:ext cx="16459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51755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Feasibility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5513832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FastAPI + LangGraph + static HTML. Zero infrastructure cost.
Hand to Ada's program team Monday — live same day.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04 / 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21440" y="182880"/>
            <a:ext cx="457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1440" y="201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